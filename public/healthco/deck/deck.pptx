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Thank you for the time. I'm Maya Chen, CEO and co-founder of HealthCo. Over the next fifteen minutes I want to make a single argument: cardiac amyloidosis went from an academic curiosity to a treatable disease in 2019, and the U.S. cardiology system has not caught up. Roughly a quarter-million Medicare-age Americans have it and don't know. Every one of them has had an echocardiogram. Our software, EchoPilot, reads those echos and surfaces the patients who need a workup today. We're 510(k) cleared, live in seven flagship health systems, and raising $15M to scale commercially. I'll walk you through why this is a now problem, what we've built, and what we'll do with your capital.</a:t>
            </a:r>
          </a:p>
          <a:p/>
          <a:p>
            <a:r>
              <a:t>Visual: Full-bleed cover. EchoPilot wordmark over a dimmed echocardiogram still with a subtle apical-strain bullseye overlay. Founder names and date in lower right.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That quote is from one of our KOL advisors, and it captures the inflection. For thirty years cardiac amyloidosis was a diagnosis of exclusion that didn't change management — so cardiologists triaged it down. Tafamidis changed the calculus. It cuts cardiovascular hospitalization roughly thirty percent and all-cause mortality roughly thirty percent in ATTR-CM. Acoramidis was approved last November with even stronger endpoints. Suddenly every missed amyloid patient is a missed treatment opportunity, and increasingly, a malpractice question. The field is reorganizing around this — and the bottleneck is no longer therapy. The bottleneck is detection.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Here is the problem stated plainly. Amyloidosis hides in echocardiograms that already exist. The signal is there — apical sparing on longitudinal strain is roughly 85% specific for amyloid in expert hands — but most echos in the U.S. are not read by amyloid experts, strain is often not measured, and even when measured the apical-sparing pattern is missed. The result is a three-to-five-year diagnostic odyssey for patients who, by the time they reach a referral center, have advanced disease. Every year of delay matters: tafamidis benefit is largest in NYHA Class I and II. We are not solving a screening problem from scratch. We are solving a signal-extraction problem on imaging that has already been acquired and billed.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Why now, and why not three years ago. Three curves had to cross. First, treatment had to exist and be reimbursed — that happened with tafamidis getting NCD coverage and acoramidis approval last year. Second, the substrate had to be digital and at scale — U.S. echo is essentially 100% digital today and the volume keeps growing as point-of-care ultrasound expands. Third, the regulatory and payer pathway for cardiac imaging AI had to be paved — Caption Health, Ultromics, Us2.ai walked that path between 2020 and 2023 and the FDA now has a well-trodden 510(k) lane for cardiac measurement AI. We are the first to combine all three specifically for amyloidosis detection.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EchoPilot is server-side software that sits behind the echo lab and analyzes every study without anyone having to push a button. The cardiologist opens the study in their normal reading workflow and the EchoPilot one-page report is already attached. They see a risk score, the strain bullseye with apical sparing flagged or not flagged, and an automated EF that is non-inferior to expert measurement. That last point matters: cardiologists hate AI that adds a click. We add zero clicks and we save them the strain measurement, which most labs skip today because it takes five to seven minutes manually. The amyloid flag is the wedge; the strain and EF automation is what makes them want it daily.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zero-friction integration is the whole game in cardiology AI. The ones that lost — and there are several — required sonographers to do extra acquisitions or cardiologists to log into a separate portal. We don't. We're a passive listener on the PACS feed. The only behavior change in the system is that when EchoPilot flags a study high-risk, the reading cardiologist gets a templated dictation paragraph and a one-click referral order to the amyloidosis program. At Mass General Brigham this pathway has reduced time-from-echo to PYP scan from a median of 94 days to 18 days in our pilot. That is the clinical value proposition in one sentence: we shorten the diagnostic odyssey from years to weeks.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This is the slide investors should push hardest on, so let me front-run it. The headline numbers are 92% sensitivity and 88% specificity at our locked clinical operating point, published peer-reviewed in JACC: Cardiovascular Imaging this past March. The cohort was four thousand two hundred echos across four sites, with both ATTR-CM and AL cases adjudicated against the gold standard — PYP for ATTR, biopsy for AL. We outperform expert apical-sparing pattern recognition alone, which is the current best non-invasive screen. The honest caveat: this was retrospective. We have a prospective study running at Cleveland Clinic and Mayo with twenty-five hundred patients, reading out late next year. We expect specificity to compress slightly in prospective use, which is normal, and we have headroom to absorb that.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 want to be careful here because every healthcare deck overstates TAM. The honest framing is bottom-up. There are thirty million echos a year in the United States, that number is well-sourced from CMS and AHA. At our blended price of thirty-five dollars per study, full penetration is a billion-dollar TAM. We are not modeling full penetration. Our serviceable market is the roughly twelve million echos read in cardiology-program-scale health systems where we can sell enterprise. Our 2029 plan is sixty to eighty enterprise accounts and roughly five million echos analyzed annually, which at our weighted ASP gets us to about $180M ARR. That's the number we're underwriting. The adjacency story — HCM, aortic stenosis, RV — is real but it's upside, not the base case.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Honest competitive read. Ultromics is the most credible competitor — they have more sites and a stronger HFpEF play, but they do not have an amyloidosis indication and they cannot get one quickly because their predicate doesn't cover it. Us2.ai is well-funded out of Singapore and strong in Asia-Pacific, weak in U.S. enterprise. GE and Philips bundle AI with their scanners, which sounds threatening but in practice it locks them out of the eighty percent of U.S. echo labs that are mixed-vendor. Echo IQ is amyloidosis-focused like us but is Australian, has TGA clearance only, and has no U.S. 510(k). Our defensible position is amyloidosis-specific FDA clearance, faster latency, and a vendor-neutral integration story. We will not win every deal — we will win the ones where the cardiology service line is buying, not the imaging IT department.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few points on the economics. The twenty-five percent blended gross margin target reflects the fact that we are still doing white-glove implementation and clinical activation services for the first hundred accounts — those are dilutive to gross margin but they win the account. Software-only gross margin is north of seventy percent and that's what investors should underwrite on the long curve. On reimbursement: we are not dependent on a dedicated CPT to make the model work. Health systems are paying us out of cardiology service-line budgets today because the downstream amyloidosis workup and tafamidis prescribing is so lucrative — a single confirmed ATTR-CM patient is roughly $225K per year in tafamidis to the patient's payer and meaningful contribution margin to the cardiology service line. We are a rounding error on that math.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Traction is the part of the deck where we usually lose people because the numbers are small in absolute terms. So let me reframe: ninety-four confirmed amyloidosis diagnoses across our pilots, in patients who would otherwise have continued the three-to-five-year odyssey. Each of those is a treatable patient now in a treatment pathway. The conversion data is what matters commercially: two of seven pilots have converted to paid enterprise contracts and five more are in late-stage procurement, which is a conversion rate well ahead of our underwritten pace. The Pfizer co-marketing pilot is early but strategically important — they have the largest cardiology field force in the country and they are motivated to find amyloidosis patients.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Regulatory is where this category gets won or lost and we did the hard thing first — we got the amyloidosis indication on the label, which most of our competitors do not have and cannot get without redoing their pivotal work. The De Novo for strain auto-measurement is a separate, lower-risk filing because the predicate landscape is well-established. On IP, the key patent is the apical-sparing quantification method — it is the technical core of the amyloidosis claim and we have it issued, not pending. The FTO opinion from Wilson Sonsini covers the active claims of all major competitors including Ultromics and Echo IQ. Quality system is investor-grade — ISO 13485 and SOC 2 Type II, which matters when you sell to large IDNs.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Quick on team. Raj and I started this at MGH where I was running the amyloidosis screening clinic and watching us miss patients in our own echo lab — so the founding insight is from clinical practice. Raj's prior work at Hinge Health and on two cleared imaging devices means we are not learning the FDA process for the first time. Sarah is the unlock for commercial scale; she ran HeartFlow's commercial team through the exact transition we are about to make — pilot validation to enterprise scale to a category I CPT — and she chose to come do it again with us. We have four named KOLs across the top three U.S. amyloidosis programs, which materially shortens deal cycles.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ask is fifteen million at fifty pre, twenty-five percent dilution. We are looking for one lead with a healthcare and imaging-AI thesis who will take the board seat and who can credibly open doors at Pfizer cardiovascular, Edwards, and Medtronic structural heart — those are the three strategic relationships that compress our path materially. The thirty months gets us through strain clearance, twenty-five enterprise accounts, and a CPT category I submission with ACC backing. At that point we are either a credible Series B story at three to four times this valuation or we are a strategic acquisition target for one of three obvious acquirers. Both are good outcomes for the lead. Happy to take questions. ### Disclosures This presentation is provided for informational purposes only and does not constitute an offer to sell or a solicitation of an offer to buy any securities. Any such offer or solicitation will be made only by means of definitive offering documents, including a private placement memorandum and subscription agreement, which will be furnished to qualified investors. The information herein contains forward-looking statements regarding HealthCo's business, regulatory pathway, clinical results, market opportunity, and financial projections; actual results may differ materially. Clinical performance figures cited reflect retrospective validation and have not been confirmed in prospective trials. HealthCo's advisor on this transaction is acting solely in an advisory capacity and is not a registered broker-dealer or placement agent. No advisor compensation is contingent on the sale of securities. Recipients should conduct their own diligence and consult their own legal, tax, and investment advisors. Distribution is restricted to accredited investors as defined under Rule 501 of Regulation D. Sample work product — Investment Analyst Practice — for demonstration only.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b="1" sz="4400">
                <a:solidFill>
                  <a:srgbClr val="0E2A47"/>
                </a:solidFill>
              </a:rPr>
              <a:t>Slide 1 — Title</a:t>
            </a:r>
          </a:p>
        </p:txBody>
      </p:sp>
      <p:sp>
        <p:nvSpPr>
          <p:cNvPr id="3" name="Subtitle 2"/>
          <p:cNvSpPr>
            <a:spLocks noGrp="1"/>
          </p:cNvSpPr>
          <p:nvPr>
            <p:ph type="subTitle" idx="1"/>
          </p:nvPr>
        </p:nvSpPr>
        <p:spPr/>
        <p:txBody>
          <a:bodyPr/>
          <a:lstStyle/>
          <a:p>
            <a:r>
              <a:rPr sz="2000">
                <a:solidFill>
                  <a:srgbClr val="555555"/>
                </a:solidFill>
              </a:rPr>
              <a:t>EchoPilot: AI that finds cardiac amyloidosis hiding in plain sight</a:t>
            </a:r>
          </a:p>
          <a:p>
            <a:r>
              <a:rPr sz="2000">
                <a:solidFill>
                  <a:srgbClr val="555555"/>
                </a:solidFill>
              </a:rPr>
              <a:t>Series A — $15M raise at $50M pre-money</a:t>
            </a:r>
          </a:p>
          <a:p>
            <a:r>
              <a:rPr sz="2000">
                <a:solidFill>
                  <a:srgbClr val="555555"/>
                </a:solidFill>
              </a:rPr>
              <a:t>Boston, MA · Founded 2021 · 510(k) cleared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800">
                <a:solidFill>
                  <a:srgbClr val="0E2A47"/>
                </a:solidFill>
              </a:rPr>
              <a:t>Slide 2 — The Hook</a:t>
            </a:r>
          </a:p>
        </p:txBody>
      </p:sp>
      <p:sp>
        <p:nvSpPr>
          <p:cNvPr id="3" name="Content Placeholder 2"/>
          <p:cNvSpPr>
            <a:spLocks noGrp="1"/>
          </p:cNvSpPr>
          <p:nvPr>
            <p:ph idx="1"/>
          </p:nvPr>
        </p:nvSpPr>
        <p:spPr/>
        <p:txBody>
          <a:bodyPr wrap="square"/>
          <a:lstStyle/>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800">
                <a:solidFill>
                  <a:srgbClr val="0E2A47"/>
                </a:solidFill>
              </a:rPr>
              <a:t>"The disease we're now finding because we have to."</a:t>
            </a:r>
          </a:p>
        </p:txBody>
      </p:sp>
      <p:sp>
        <p:nvSpPr>
          <p:cNvPr id="3" name="Content Placeholder 2"/>
          <p:cNvSpPr>
            <a:spLocks noGrp="1"/>
          </p:cNvSpPr>
          <p:nvPr>
            <p:ph idx="1"/>
          </p:nvPr>
        </p:nvSpPr>
        <p:spPr/>
        <p:txBody>
          <a:bodyPr wrap="square"/>
          <a:lstStyle/>
          <a:p>
            <a:pPr/>
            <a:r>
              <a:rPr sz="1600">
                <a:solidFill>
                  <a:srgbClr val="0E2A47"/>
                </a:solidFill>
              </a:rPr>
              <a:t>Tafamidis (Pfizer Vyndaqel/Vyndamax) FDA-approved 2019 for ATTR-CM — the first disease-modifying therapy</a:t>
            </a:r>
          </a:p>
          <a:p>
            <a:pPr/>
            <a:r>
              <a:rPr sz="1600">
                <a:solidFill>
                  <a:srgbClr val="0E2A47"/>
                </a:solidFill>
              </a:rPr>
              <a:t>Annual U.S. tafamidis revenue &gt;$3B and growing; AstraZeneca acoramidis (Attruby) approved Nov 2024</a:t>
            </a:r>
          </a:p>
          <a:p>
            <a:pPr/>
            <a:r>
              <a:rPr sz="1600">
                <a:solidFill>
                  <a:srgbClr val="0E2A47"/>
                </a:solidFill>
              </a:rPr>
              <a:t>Cardiologists previously had no reason to look hard — now they have three drugs and a diagnostic gap</a:t>
            </a:r>
          </a:p>
          <a:p>
            <a:pPr/>
            <a:r>
              <a:rPr sz="1600">
                <a:solidFill>
                  <a:srgbClr val="0E2A47"/>
                </a:solidFill>
              </a:rPr>
              <a:t>Underdiagnosis is no longer an academic problem; it is a treatable-patient problem</a:t>
            </a:r>
          </a:p>
          <a:p>
            <a:r>
              <a:rPr sz="1200" i="1">
                <a:solidFill>
                  <a:srgbClr val="555555"/>
                </a:solidFill>
              </a:rPr>
              <a:t>[Visual: Single pull-quote slide, attribution line "— Cardiology Division Chief, top-10 U.S. academic medical center, 2024."]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800">
                <a:solidFill>
                  <a:srgbClr val="0E2A47"/>
                </a:solidFill>
              </a:rPr>
              <a:t>Slide 3 — The Problem</a:t>
            </a:r>
          </a:p>
        </p:txBody>
      </p:sp>
      <p:sp>
        <p:nvSpPr>
          <p:cNvPr id="3" name="Content Placeholder 2"/>
          <p:cNvSpPr>
            <a:spLocks noGrp="1"/>
          </p:cNvSpPr>
          <p:nvPr>
            <p:ph idx="1"/>
          </p:nvPr>
        </p:nvSpPr>
        <p:spPr/>
        <p:txBody>
          <a:bodyPr wrap="square"/>
          <a:lstStyle/>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800">
                <a:solidFill>
                  <a:srgbClr val="0E2A47"/>
                </a:solidFill>
              </a:rPr>
              <a:t>150,000 to 300,000 Americans have undiagnosed cardiac amyloidosis</a:t>
            </a:r>
          </a:p>
        </p:txBody>
      </p:sp>
      <p:sp>
        <p:nvSpPr>
          <p:cNvPr id="3" name="Content Placeholder 2"/>
          <p:cNvSpPr>
            <a:spLocks noGrp="1"/>
          </p:cNvSpPr>
          <p:nvPr>
            <p:ph idx="1"/>
          </p:nvPr>
        </p:nvSpPr>
        <p:spPr/>
        <p:txBody>
          <a:bodyPr wrap="square"/>
          <a:lstStyle/>
          <a:p>
            <a:pPr/>
            <a:r>
              <a:rPr sz="1600">
                <a:solidFill>
                  <a:srgbClr val="0E2A47"/>
                </a:solidFill>
              </a:rPr>
              <a:t>Prevalence in HFpEF cohorts &gt;65: 13–17% (per JACC 2018, Mayo)</a:t>
            </a:r>
          </a:p>
          <a:p>
            <a:pPr/>
            <a:r>
              <a:rPr sz="1600">
                <a:solidFill>
                  <a:srgbClr val="0E2A47"/>
                </a:solidFill>
              </a:rPr>
              <a:t>Median time from symptom onset to diagnosis: 3+ years; average 5+ physician visits</a:t>
            </a:r>
          </a:p>
          <a:p>
            <a:pPr/>
            <a:r>
              <a:rPr sz="1600">
                <a:solidFill>
                  <a:srgbClr val="0E2A47"/>
                </a:solidFill>
              </a:rPr>
              <a:t>Echo signs (LV wall thickening, low-normal EF, reduced apical strain with apical sparing pattern) are present years before diagnosis</a:t>
            </a:r>
          </a:p>
          <a:p>
            <a:pPr/>
            <a:r>
              <a:rPr sz="1600">
                <a:solidFill>
                  <a:srgbClr val="0E2A47"/>
                </a:solidFill>
              </a:rPr>
              <a:t>Cardiologists read 30M U.S. echos per year — pattern recognition for amyloid is non-trivial and inter-reader variability is high</a:t>
            </a:r>
          </a:p>
          <a:p>
            <a:pPr/>
            <a:r>
              <a:rPr sz="1600">
                <a:solidFill>
                  <a:srgbClr val="0E2A47"/>
                </a:solidFill>
              </a:rPr>
              <a:t>Result: patients are diagnosed late, after irreversible cardiac remodeling, when therapy is least effective</a:t>
            </a:r>
          </a:p>
          <a:p>
            <a:r>
              <a:rPr sz="1200" i="1">
                <a:solidFill>
                  <a:srgbClr val="555555"/>
                </a:solidFill>
              </a:rPr>
              <a:t>[Visual: Two-panel funnel. Left panel: 30M echos → ~600K with suspicious wall thickening → ~50K worked up → ~15K diagnosed. Right panel: estimated 150–300K prevalent, undiagnosed.]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800">
                <a:solidFill>
                  <a:srgbClr val="0E2A47"/>
                </a:solidFill>
              </a:rPr>
              <a:t>Slide 4 — Why Now</a:t>
            </a:r>
          </a:p>
        </p:txBody>
      </p:sp>
      <p:sp>
        <p:nvSpPr>
          <p:cNvPr id="3" name="Content Placeholder 2"/>
          <p:cNvSpPr>
            <a:spLocks noGrp="1"/>
          </p:cNvSpPr>
          <p:nvPr>
            <p:ph idx="1"/>
          </p:nvPr>
        </p:nvSpPr>
        <p:spPr/>
        <p:txBody>
          <a:bodyPr wrap="square"/>
          <a:lstStyle/>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800">
                <a:solidFill>
                  <a:srgbClr val="0E2A47"/>
                </a:solidFill>
              </a:rPr>
              <a:t>Three independent curves intersected in 2023–2024</a:t>
            </a:r>
          </a:p>
        </p:txBody>
      </p:sp>
      <p:sp>
        <p:nvSpPr>
          <p:cNvPr id="3" name="Content Placeholder 2"/>
          <p:cNvSpPr>
            <a:spLocks noGrp="1"/>
          </p:cNvSpPr>
          <p:nvPr>
            <p:ph idx="1"/>
          </p:nvPr>
        </p:nvSpPr>
        <p:spPr/>
        <p:txBody>
          <a:bodyPr wrap="square"/>
          <a:lstStyle/>
          <a:p>
            <a:pPr/>
            <a:r>
              <a:rPr sz="1600">
                <a:solidFill>
                  <a:srgbClr val="0E2A47"/>
                </a:solidFill>
              </a:rPr>
              <a:t>Therapy: Tafamidis (2019) + acoramidis (2024); patisiran/vutrisiran for AL; pipeline of CRISPR and silencer therapies in Phase 3</a:t>
            </a:r>
          </a:p>
          <a:p>
            <a:pPr/>
            <a:r>
              <a:rPr sz="1600">
                <a:solidFill>
                  <a:srgbClr val="0E2A47"/>
                </a:solidFill>
              </a:rPr>
              <a:t>Imaging volume: ~30M U.S. transthoracic echos per year, growing 4–5% annually; &gt;95% digital, DICOM-standard</a:t>
            </a:r>
          </a:p>
          <a:p>
            <a:pPr/>
            <a:r>
              <a:rPr sz="1600">
                <a:solidFill>
                  <a:srgbClr val="0E2A47"/>
                </a:solidFill>
              </a:rPr>
              <a:t>AI maturity: FDA has cleared 100+ cardiac imaging AI devices; payers reimbursing AI-augmented analysis (CPT 0623T precedent); clinician trust curve crossed in 2023</a:t>
            </a:r>
          </a:p>
          <a:p>
            <a:r>
              <a:rPr sz="1200" i="1">
                <a:solidFill>
                  <a:srgbClr val="555555"/>
                </a:solidFill>
              </a:rPr>
              <a:t>[Visual: Three converging timelines (2018 → 2026) labeled Therapy, Volume, AI. Convergence point starred at 2024.]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800">
                <a:solidFill>
                  <a:srgbClr val="0E2A47"/>
                </a:solidFill>
              </a:rPr>
              <a:t>Slide 5 — Solution: EchoPilot</a:t>
            </a:r>
          </a:p>
        </p:txBody>
      </p:sp>
      <p:sp>
        <p:nvSpPr>
          <p:cNvPr id="3" name="Content Placeholder 2"/>
          <p:cNvSpPr>
            <a:spLocks noGrp="1"/>
          </p:cNvSpPr>
          <p:nvPr>
            <p:ph idx="1"/>
          </p:nvPr>
        </p:nvSpPr>
        <p:spPr/>
        <p:txBody>
          <a:bodyPr wrap="square"/>
          <a:lstStyle/>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800">
                <a:solidFill>
                  <a:srgbClr val="0E2A47"/>
                </a:solidFill>
              </a:rPr>
              <a:t>EchoPilot reads any standard echo and flags amyloid risk in 60 seconds</a:t>
            </a:r>
          </a:p>
        </p:txBody>
      </p:sp>
      <p:sp>
        <p:nvSpPr>
          <p:cNvPr id="3" name="Content Placeholder 2"/>
          <p:cNvSpPr>
            <a:spLocks noGrp="1"/>
          </p:cNvSpPr>
          <p:nvPr>
            <p:ph idx="1"/>
          </p:nvPr>
        </p:nvSpPr>
        <p:spPr/>
        <p:txBody>
          <a:bodyPr wrap="square"/>
          <a:lstStyle/>
          <a:p>
            <a:pPr/>
            <a:r>
              <a:rPr sz="1600">
                <a:solidFill>
                  <a:srgbClr val="0E2A47"/>
                </a:solidFill>
              </a:rPr>
              <a:t>Inputs: Standard transthoracic echo DICOM — no protocol changes, no additional acquisition</a:t>
            </a:r>
          </a:p>
          <a:p>
            <a:pPr/>
            <a:r>
              <a:rPr sz="1600">
                <a:solidFill>
                  <a:srgbClr val="0E2A47"/>
                </a:solidFill>
              </a:rPr>
              <a:t>Outputs: (1) ATTR-CM / AL amyloidosis risk score with confidence interval, (2) auto-measured global longitudinal strain with apical-sparing pattern detection, (3) automated EF, (4) PDF report into Epic / Cerner / Merge / Syngo</a:t>
            </a:r>
          </a:p>
          <a:p>
            <a:pPr/>
            <a:r>
              <a:rPr sz="1600">
                <a:solidFill>
                  <a:srgbClr val="0E2A47"/>
                </a:solidFill>
              </a:rPr>
              <a:t>Latency: &lt;60 seconds from DICOM ingest to signed report</a:t>
            </a:r>
          </a:p>
          <a:p>
            <a:pPr/>
            <a:r>
              <a:rPr sz="1600">
                <a:solidFill>
                  <a:srgbClr val="0E2A47"/>
                </a:solidFill>
              </a:rPr>
              <a:t>Workflow: Runs server-side on existing PACS/echo lab infrastructure; sonographer and reading cardiologist see no new clicks</a:t>
            </a:r>
          </a:p>
          <a:p>
            <a:pPr/>
            <a:r>
              <a:rPr sz="1600">
                <a:solidFill>
                  <a:srgbClr val="0E2A47"/>
                </a:solidFill>
              </a:rPr>
              <a:t>510(k) cleared 2024 for ATTR-CM detection (K24xxxx); De Novo in submission for strain auto-measurement</a:t>
            </a:r>
          </a:p>
          <a:p>
            <a:r>
              <a:rPr sz="1200" i="1">
                <a:solidFill>
                  <a:srgbClr val="555555"/>
                </a:solidFill>
              </a:rPr>
              <a:t>[Visual: Product-shot mock of the EchoPilot report PDF on the right; on the left, a workflow arrow: Echo lab → PACS → EchoPilot → Cardiologist read.]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800">
                <a:solidFill>
                  <a:srgbClr val="0E2A47"/>
                </a:solidFill>
              </a:rPr>
              <a:t>Slide 6 — How It Works</a:t>
            </a:r>
          </a:p>
        </p:txBody>
      </p:sp>
      <p:sp>
        <p:nvSpPr>
          <p:cNvPr id="3" name="Content Placeholder 2"/>
          <p:cNvSpPr>
            <a:spLocks noGrp="1"/>
          </p:cNvSpPr>
          <p:nvPr>
            <p:ph idx="1"/>
          </p:nvPr>
        </p:nvSpPr>
        <p:spPr/>
        <p:txBody>
          <a:bodyPr wrap="square"/>
          <a:lstStyle/>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800">
                <a:solidFill>
                  <a:srgbClr val="0E2A47"/>
                </a:solidFill>
              </a:rPr>
              <a:t>Patient journey: from echo cart to treated patient</a:t>
            </a:r>
          </a:p>
        </p:txBody>
      </p:sp>
      <p:sp>
        <p:nvSpPr>
          <p:cNvPr id="3" name="Content Placeholder 2"/>
          <p:cNvSpPr>
            <a:spLocks noGrp="1"/>
          </p:cNvSpPr>
          <p:nvPr>
            <p:ph idx="1"/>
          </p:nvPr>
        </p:nvSpPr>
        <p:spPr/>
        <p:txBody>
          <a:bodyPr wrap="square"/>
          <a:lstStyle/>
          <a:p>
            <a:pPr/>
            <a:r>
              <a:rPr sz="1600">
                <a:solidFill>
                  <a:srgbClr val="0E2A47"/>
                </a:solidFill>
              </a:rPr>
              <a:t>Patient gets a standard echo for any indication (HFpEF workup, dyspnea, pre-op, surveillance)</a:t>
            </a:r>
          </a:p>
          <a:p>
            <a:pPr/>
            <a:r>
              <a:rPr sz="1600">
                <a:solidFill>
                  <a:srgbClr val="0E2A47"/>
                </a:solidFill>
              </a:rPr>
              <a:t>DICOM is auto-routed from the echo cart through PACS to EchoPilot (HL7/DICOM)</a:t>
            </a:r>
          </a:p>
          <a:p>
            <a:pPr/>
            <a:r>
              <a:rPr sz="1600">
                <a:solidFill>
                  <a:srgbClr val="0E2A47"/>
                </a:solidFill>
              </a:rPr>
              <a:t>EchoPilot returns structured report in &lt;60 sec with strain, EF, and amyloid risk score</a:t>
            </a:r>
          </a:p>
          <a:p>
            <a:pPr/>
            <a:r>
              <a:rPr sz="1600">
                <a:solidFill>
                  <a:srgbClr val="0E2A47"/>
                </a:solidFill>
              </a:rPr>
              <a:t>High-risk flag triggers cardiologist review and a templated referral to amyloidosis program (PYP scintigraphy or genetic testing)</a:t>
            </a:r>
          </a:p>
          <a:p>
            <a:pPr/>
            <a:r>
              <a:rPr sz="1600">
                <a:solidFill>
                  <a:srgbClr val="0E2A47"/>
                </a:solidFill>
              </a:rPr>
              <a:t>Confirmed patient enters tafamidis / acoramidis pathway</a:t>
            </a:r>
          </a:p>
          <a:p>
            <a:r>
              <a:rPr sz="1200" i="1">
                <a:solidFill>
                  <a:srgbClr val="555555"/>
                </a:solidFill>
              </a:rPr>
              <a:t>[Visual: Five-step horizontal swimlane. Lanes: Patient · Sonographer · PACS · EchoPilot · Cardiologist · Amyloid Program.]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800">
                <a:solidFill>
                  <a:srgbClr val="0E2A47"/>
                </a:solidFill>
              </a:rPr>
              <a:t>Slide 7 — Validation</a:t>
            </a:r>
          </a:p>
        </p:txBody>
      </p:sp>
      <p:sp>
        <p:nvSpPr>
          <p:cNvPr id="3" name="Content Placeholder 2"/>
          <p:cNvSpPr>
            <a:spLocks noGrp="1"/>
          </p:cNvSpPr>
          <p:nvPr>
            <p:ph idx="1"/>
          </p:nvPr>
        </p:nvSpPr>
        <p:spPr/>
        <p:txBody>
          <a:bodyPr wrap="square"/>
          <a:lstStyle/>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800">
                <a:solidFill>
                  <a:srgbClr val="0E2A47"/>
                </a:solidFill>
              </a:rPr>
              <a:t>Published results: 92% sensitivity, 88% specificity for cardiac amyloidosis</a:t>
            </a:r>
          </a:p>
        </p:txBody>
      </p:sp>
      <p:sp>
        <p:nvSpPr>
          <p:cNvPr id="3" name="Content Placeholder 2"/>
          <p:cNvSpPr>
            <a:spLocks noGrp="1"/>
          </p:cNvSpPr>
          <p:nvPr>
            <p:ph idx="1"/>
          </p:nvPr>
        </p:nvSpPr>
        <p:spPr/>
        <p:txBody>
          <a:bodyPr wrap="square"/>
          <a:lstStyle/>
          <a:p>
            <a:pPr/>
            <a:r>
              <a:rPr sz="1600">
                <a:solidFill>
                  <a:srgbClr val="0E2A47"/>
                </a:solidFill>
              </a:rPr>
              <a:t>JACC: Cardiovascular Imaging, March 2025 — multi-site retrospective validation, n=4,212 echos, 387 confirmed amyloid cases (ATTR-CM and AL combined)</a:t>
            </a:r>
          </a:p>
          <a:p>
            <a:pPr/>
            <a:r>
              <a:rPr sz="1600">
                <a:solidFill>
                  <a:srgbClr val="0E2A47"/>
                </a:solidFill>
              </a:rPr>
              <a:t>Sensitivity 92.1% (95% CI 89.4–94.3); specificity 88.4% (95% CI 87.2–89.5) at the locked operating point</a:t>
            </a:r>
          </a:p>
          <a:p>
            <a:pPr/>
            <a:r>
              <a:rPr sz="1600">
                <a:solidFill>
                  <a:srgbClr val="0E2A47"/>
                </a:solidFill>
              </a:rPr>
              <a:t>AUC 0.94 for ATTR-CM, 0.91 for AL; outperforms expert reader consensus on apical-sparing alone (AUC 0.82)</a:t>
            </a:r>
          </a:p>
          <a:p>
            <a:pPr/>
            <a:r>
              <a:rPr sz="1600">
                <a:solidFill>
                  <a:srgbClr val="0E2A47"/>
                </a:solidFill>
              </a:rPr>
              <a:t>Prospective validation underway at Cleveland Clinic and Mayo (n=2,500 target, readout Q4 2026)</a:t>
            </a:r>
          </a:p>
          <a:p>
            <a:pPr/>
            <a:r>
              <a:rPr sz="1600">
                <a:solidFill>
                  <a:srgbClr val="0E2A47"/>
                </a:solidFill>
              </a:rPr>
              <a:t>KOL advisors: Dr. [Name] (MGH Amyloidosis Program), Dr. [Name] (Cleveland Clinic Imaging), Dr. [Name] (Mayo Cardiology)</a:t>
            </a:r>
          </a:p>
          <a:p>
            <a:r>
              <a:rPr sz="1200" i="1">
                <a:solidFill>
                  <a:srgbClr val="555555"/>
                </a:solidFill>
              </a:rPr>
              <a:t>[Visual: ROC curve panel (left) and quote tiles from three KOLs (right). Footer: JACC: Cardiovascular Imaging citation in small caps.]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800">
                <a:solidFill>
                  <a:srgbClr val="0E2A47"/>
                </a:solidFill>
              </a:rPr>
              <a:t>Slide 8 — Market Opportunity</a:t>
            </a:r>
          </a:p>
        </p:txBody>
      </p:sp>
      <p:sp>
        <p:nvSpPr>
          <p:cNvPr id="3" name="Content Placeholder 2"/>
          <p:cNvSpPr>
            <a:spLocks noGrp="1"/>
          </p:cNvSpPr>
          <p:nvPr>
            <p:ph idx="1"/>
          </p:nvPr>
        </p:nvSpPr>
        <p:spPr/>
        <p:txBody>
          <a:bodyPr wrap="square"/>
          <a:lstStyle/>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800">
                <a:solidFill>
                  <a:srgbClr val="0E2A47"/>
                </a:solidFill>
              </a:rPr>
              <a:t>$1.05B U.S. SAM at maturity; $180M reachable by 2029</a:t>
            </a:r>
          </a:p>
        </p:txBody>
      </p:sp>
      <p:sp>
        <p:nvSpPr>
          <p:cNvPr id="3" name="Content Placeholder 2"/>
          <p:cNvSpPr>
            <a:spLocks noGrp="1"/>
          </p:cNvSpPr>
          <p:nvPr>
            <p:ph idx="1"/>
          </p:nvPr>
        </p:nvSpPr>
        <p:spPr/>
        <p:txBody>
          <a:bodyPr wrap="square"/>
          <a:lstStyle/>
          <a:p>
            <a:pPr/>
            <a:r>
              <a:rPr sz="1600">
                <a:solidFill>
                  <a:srgbClr val="0E2A47"/>
                </a:solidFill>
              </a:rPr>
              <a:t>TAM: 30M U.S. echos/year × $35 blended per-study fee = $1.05B annually at full U.S. echo penetration</a:t>
            </a:r>
          </a:p>
          <a:p>
            <a:pPr/>
            <a:r>
              <a:rPr sz="1600">
                <a:solidFill>
                  <a:srgbClr val="0E2A47"/>
                </a:solidFill>
              </a:rPr>
              <a:t>SAM: ~12M echos/year at health systems with cardiology-program scale (top 500 IDNs, large outpatient cardiology groups) × $35–$60 per study = $420–720M</a:t>
            </a:r>
          </a:p>
          <a:p>
            <a:pPr/>
            <a:r>
              <a:rPr sz="1600">
                <a:solidFill>
                  <a:srgbClr val="0E2A47"/>
                </a:solidFill>
              </a:rPr>
              <a:t>SOM by 2029: ~5M echos/year across 60–80 enterprise accounts × $36 weighted per-study = ~$180M ARR</a:t>
            </a:r>
          </a:p>
          <a:p>
            <a:pPr/>
            <a:r>
              <a:rPr sz="1600">
                <a:solidFill>
                  <a:srgbClr val="0E2A47"/>
                </a:solidFill>
              </a:rPr>
              <a:t>Tailwind: amyloidosis-specific demand pulled by Pfizer and AstraZeneca commercial teams driving "look harder" messaging to cardiologists</a:t>
            </a:r>
          </a:p>
          <a:p>
            <a:pPr/>
            <a:r>
              <a:rPr sz="1600">
                <a:solidFill>
                  <a:srgbClr val="0E2A47"/>
                </a:solidFill>
              </a:rPr>
              <a:t>Adjacent expansion (post-Series A): HCM screening, aortic stenosis severity grading, RV function — same DICOM, same channel</a:t>
            </a:r>
          </a:p>
          <a:p>
            <a:r>
              <a:rPr sz="1200" i="1">
                <a:solidFill>
                  <a:srgbClr val="555555"/>
                </a:solidFill>
              </a:rPr>
              <a:t>[Visual: Three nested rectangles (TAM/SAM/SOM) with dollar values, plus a small "Adjacent indications" arrow to the right.]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800">
                <a:solidFill>
                  <a:srgbClr val="0E2A47"/>
                </a:solidFill>
              </a:rPr>
              <a:t>Slide 9 — Competitive Landscape</a:t>
            </a:r>
          </a:p>
        </p:txBody>
      </p:sp>
      <p:sp>
        <p:nvSpPr>
          <p:cNvPr id="3" name="Content Placeholder 2"/>
          <p:cNvSpPr>
            <a:spLocks noGrp="1"/>
          </p:cNvSpPr>
          <p:nvPr>
            <p:ph idx="1"/>
          </p:nvPr>
        </p:nvSpPr>
        <p:spPr/>
        <p:txBody>
          <a:bodyPr wrap="square"/>
          <a:lstStyle/>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800">
                <a:solidFill>
                  <a:srgbClr val="0E2A47"/>
                </a:solidFill>
              </a:rPr>
              <a:t>We are the only purpose-built amyloidosis detector with 510(k) clearance</a:t>
            </a:r>
          </a:p>
        </p:txBody>
      </p:sp>
      <p:sp>
        <p:nvSpPr>
          <p:cNvPr id="3" name="Content Placeholder 2"/>
          <p:cNvSpPr>
            <a:spLocks noGrp="1"/>
          </p:cNvSpPr>
          <p:nvPr>
            <p:ph idx="1"/>
          </p:nvPr>
        </p:nvSpPr>
        <p:spPr/>
        <p:txBody>
          <a:bodyPr wrap="square"/>
          <a:lstStyle/>
          <a:p/>
          <a:p>
            <a:r>
              <a:rPr sz="1200" i="1">
                <a:solidFill>
                  <a:srgbClr val="555555"/>
                </a:solidFill>
              </a:rPr>
              <a:t>[Visual: Comparison matrix table. | Feature | EchoPilot | Ultromics EchoGo | Us2.ai | GE/Caption | Philips/DiA | Echo IQ | |---|---|---|---|---|---|---| | Amyloidosis-specific FDA clearance | Yes (2024) | No (HFpEF AI only) | No | No | No | Pending (AU TGA only) | | Auto strain + EF | Yes | Yes | Yes | Partial | Yes | Yes | | Latency to report | &lt;60 sec | ~3 min | ~2 min | ~4 min | ~2 min | ~3 min | | EHR/PACS integration | Epic, Cerner, Merge, Syngo | Epic, Cerner | Epic | GE-native | Philips-native | Limited | | Pricing model | Per-study + enterprise | Per-study | Per-study | Bundled w/ scanner | Bundled w/ scanner | Per-study | | U.S. commercial footprint | 7 flagship | ~30 sites | ~10 sites | OEM-bundled | OEM-bundled | &lt;5 U.S.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800">
                <a:solidFill>
                  <a:srgbClr val="0E2A47"/>
                </a:solidFill>
              </a:rPr>
              <a:t>Slide 10 — Business Model &amp; Unit Economics</a:t>
            </a:r>
          </a:p>
        </p:txBody>
      </p:sp>
      <p:sp>
        <p:nvSpPr>
          <p:cNvPr id="3" name="Content Placeholder 2"/>
          <p:cNvSpPr>
            <a:spLocks noGrp="1"/>
          </p:cNvSpPr>
          <p:nvPr>
            <p:ph idx="1"/>
          </p:nvPr>
        </p:nvSpPr>
        <p:spPr/>
        <p:txBody>
          <a:bodyPr wrap="square"/>
          <a:lstStyle/>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800">
                <a:solidFill>
                  <a:srgbClr val="0E2A47"/>
                </a:solidFill>
              </a:rPr>
              <a:t>Per-study SaaS with enterprise tiering; 25%+ gross margin at scale</a:t>
            </a:r>
          </a:p>
        </p:txBody>
      </p:sp>
      <p:sp>
        <p:nvSpPr>
          <p:cNvPr id="3" name="Content Placeholder 2"/>
          <p:cNvSpPr>
            <a:spLocks noGrp="1"/>
          </p:cNvSpPr>
          <p:nvPr>
            <p:ph idx="1"/>
          </p:nvPr>
        </p:nvSpPr>
        <p:spPr/>
        <p:txBody>
          <a:bodyPr wrap="square"/>
          <a:lstStyle/>
          <a:p>
            <a:pPr/>
            <a:r>
              <a:rPr sz="1600">
                <a:solidFill>
                  <a:srgbClr val="0E2A47"/>
                </a:solidFill>
              </a:rPr>
              <a:t>Per-study fee: $60 list / $45 mid-volume / $35 enterprise (&gt;50K studies/yr)</a:t>
            </a:r>
          </a:p>
          <a:p>
            <a:pPr/>
            <a:r>
              <a:rPr sz="1600">
                <a:solidFill>
                  <a:srgbClr val="0E2A47"/>
                </a:solidFill>
              </a:rPr>
              <a:t>Enterprise license: $250–750K annual, unlimited studies, includes implementation and dashboarding</a:t>
            </a:r>
          </a:p>
          <a:p>
            <a:pPr/>
            <a:r>
              <a:rPr sz="1600">
                <a:solidFill>
                  <a:srgbClr val="0E2A47"/>
                </a:solidFill>
              </a:rPr>
              <a:t>Channel mix at maturity: 70% enterprise license, 30% per-study</a:t>
            </a:r>
          </a:p>
          <a:p>
            <a:pPr/>
            <a:r>
              <a:rPr sz="1600">
                <a:solidFill>
                  <a:srgbClr val="0E2A47"/>
                </a:solidFill>
              </a:rPr>
              <a:t>Unit economics (per-study tier): $35 ASP · $9 COGS (compute, cloud, third-party DICOM) · $26 gross profit · 74% gross margin software-only; 25%+ blended after services</a:t>
            </a:r>
          </a:p>
          <a:p>
            <a:pPr/>
            <a:r>
              <a:rPr sz="1600">
                <a:solidFill>
                  <a:srgbClr val="0E2A47"/>
                </a:solidFill>
              </a:rPr>
              <a:t>CAC: ~$120K per enterprise account (12-month sales cycle); LTV &gt;$2.5M at 5-year retention; LTV/CAC &gt;20x at maturity</a:t>
            </a:r>
          </a:p>
          <a:p>
            <a:pPr/>
            <a:r>
              <a:rPr sz="1600">
                <a:solidFill>
                  <a:srgbClr val="0E2A47"/>
                </a:solidFill>
              </a:rPr>
              <a:t>Reimbursement: CPT 0623T precedent provides per-study reimbursement floor; dedicated CPT application in progress with ACC support</a:t>
            </a:r>
          </a:p>
          <a:p>
            <a:r>
              <a:rPr sz="1200" i="1">
                <a:solidFill>
                  <a:srgbClr val="555555"/>
                </a:solidFill>
              </a:rPr>
              <a:t>[Visual: Two-panel: pricing tier table on the left; gross margin trajectory line chart 2024 → 2028 (curve from -15% to 55%) on the right.]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800">
                <a:solidFill>
                  <a:srgbClr val="0E2A47"/>
                </a:solidFill>
              </a:rPr>
              <a:t>Slide 11 — Traction</a:t>
            </a:r>
          </a:p>
        </p:txBody>
      </p:sp>
      <p:sp>
        <p:nvSpPr>
          <p:cNvPr id="3" name="Content Placeholder 2"/>
          <p:cNvSpPr>
            <a:spLocks noGrp="1"/>
          </p:cNvSpPr>
          <p:nvPr>
            <p:ph idx="1"/>
          </p:nvPr>
        </p:nvSpPr>
        <p:spPr/>
        <p:txBody>
          <a:bodyPr wrap="square"/>
          <a:lstStyle/>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800">
                <a:solidFill>
                  <a:srgbClr val="0E2A47"/>
                </a:solidFill>
              </a:rPr>
              <a:t>7 flagship pilots · 18,000 echos analyzed YTD · 1 peer-reviewed publication</a:t>
            </a:r>
          </a:p>
        </p:txBody>
      </p:sp>
      <p:sp>
        <p:nvSpPr>
          <p:cNvPr id="3" name="Content Placeholder 2"/>
          <p:cNvSpPr>
            <a:spLocks noGrp="1"/>
          </p:cNvSpPr>
          <p:nvPr>
            <p:ph idx="1"/>
          </p:nvPr>
        </p:nvSpPr>
        <p:spPr/>
        <p:txBody>
          <a:bodyPr wrap="square"/>
          <a:lstStyle/>
          <a:p>
            <a:pPr/>
            <a:r>
              <a:rPr sz="1600">
                <a:solidFill>
                  <a:srgbClr val="0E2A47"/>
                </a:solidFill>
              </a:rPr>
              <a:t>Active pilots: Mass General Brigham · Cleveland Clinic · Mayo Clinic · Atrium Health · Banner Health · Intermountain · Henry Ford</a:t>
            </a:r>
          </a:p>
          <a:p>
            <a:pPr/>
            <a:r>
              <a:rPr sz="1600">
                <a:solidFill>
                  <a:srgbClr val="0E2A47"/>
                </a:solidFill>
              </a:rPr>
              <a:t>18,432 echos analyzed YTD across pilots; 287 high-risk flags, 94 confirmed amyloidosis diagnoses (53 ATTR-CM, 41 AL)</a:t>
            </a:r>
          </a:p>
          <a:p>
            <a:pPr/>
            <a:r>
              <a:rPr sz="1600">
                <a:solidFill>
                  <a:srgbClr val="0E2A47"/>
                </a:solidFill>
              </a:rPr>
              <a:t>MGH pilot: time-from-echo-to-PYP-scan reduced from median 94 → 18 days</a:t>
            </a:r>
          </a:p>
          <a:p>
            <a:pPr/>
            <a:r>
              <a:rPr sz="1600">
                <a:solidFill>
                  <a:srgbClr val="0E2A47"/>
                </a:solidFill>
              </a:rPr>
              <a:t>Two pilots converted to enterprise in Q1 2026 (Atrium $480K, Intermountain $310K); five more in late-stage conversion</a:t>
            </a:r>
          </a:p>
          <a:p>
            <a:pPr/>
            <a:r>
              <a:rPr sz="1600">
                <a:solidFill>
                  <a:srgbClr val="0E2A47"/>
                </a:solidFill>
              </a:rPr>
              <a:t>JACC: Cardiovascular Imaging publication (March 2025); two abstracts accepted ACC.26</a:t>
            </a:r>
          </a:p>
          <a:p>
            <a:pPr/>
            <a:r>
              <a:rPr sz="1600">
                <a:solidFill>
                  <a:srgbClr val="0E2A47"/>
                </a:solidFill>
              </a:rPr>
              <a:t>Active Pfizer co-marketing pilot in two regions</a:t>
            </a:r>
          </a:p>
          <a:p>
            <a:r>
              <a:rPr sz="1200" i="1">
                <a:solidFill>
                  <a:srgbClr val="555555"/>
                </a:solidFill>
              </a:rPr>
              <a:t>[Visual: Logo bar across the top with all seven institutions; KPI tiles below for the four bolded numbers.]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800">
                <a:solidFill>
                  <a:srgbClr val="0E2A47"/>
                </a:solidFill>
              </a:rPr>
              <a:t>Slide 12 — Regulatory &amp; IP</a:t>
            </a:r>
          </a:p>
        </p:txBody>
      </p:sp>
      <p:sp>
        <p:nvSpPr>
          <p:cNvPr id="3" name="Content Placeholder 2"/>
          <p:cNvSpPr>
            <a:spLocks noGrp="1"/>
          </p:cNvSpPr>
          <p:nvPr>
            <p:ph idx="1"/>
          </p:nvPr>
        </p:nvSpPr>
        <p:spPr/>
        <p:txBody>
          <a:bodyPr wrap="square"/>
          <a:lstStyle/>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800">
                <a:solidFill>
                  <a:srgbClr val="0E2A47"/>
                </a:solidFill>
              </a:rPr>
              <a:t>510(k) cleared, De Novo in progress, defensible IP estate</a:t>
            </a:r>
          </a:p>
        </p:txBody>
      </p:sp>
      <p:sp>
        <p:nvSpPr>
          <p:cNvPr id="3" name="Content Placeholder 2"/>
          <p:cNvSpPr>
            <a:spLocks noGrp="1"/>
          </p:cNvSpPr>
          <p:nvPr>
            <p:ph idx="1"/>
          </p:nvPr>
        </p:nvSpPr>
        <p:spPr/>
        <p:txBody>
          <a:bodyPr wrap="square"/>
          <a:lstStyle/>
          <a:p>
            <a:pPr/>
            <a:r>
              <a:rPr sz="1600">
                <a:solidFill>
                  <a:srgbClr val="0E2A47"/>
                </a:solidFill>
              </a:rPr>
              <a:t>510(k) clearance (2024): ATTR-CM detection from echo. Predicate: Ultromics EchoGo Pro (K221063). Indications cover adult patients undergoing standard TTE.</a:t>
            </a:r>
          </a:p>
          <a:p>
            <a:pPr/>
            <a:r>
              <a:rPr sz="1600">
                <a:solidFill>
                  <a:srgbClr val="0E2A47"/>
                </a:solidFill>
              </a:rPr>
              <a:t>De Novo submission: Auto-measurement of global longitudinal strain and apical-sparing quantification — submitted Q1 2026, expected clearance Q4 2026</a:t>
            </a:r>
          </a:p>
          <a:p>
            <a:pPr/>
            <a:r>
              <a:rPr sz="1600">
                <a:solidFill>
                  <a:srgbClr val="0E2A47"/>
                </a:solidFill>
              </a:rPr>
              <a:t>EU MDR / CE mark: Class IIa, in progress; expected H2 2026</a:t>
            </a:r>
          </a:p>
          <a:p>
            <a:pPr/>
            <a:r>
              <a:rPr sz="1600">
                <a:solidFill>
                  <a:srgbClr val="0E2A47"/>
                </a:solidFill>
              </a:rPr>
              <a:t>IP: 4 issued U.S. patents (apical-sparing quantification method, multi-view ensemble architecture, two others), 8 pending (including AL-specific differentiator method)</a:t>
            </a:r>
          </a:p>
          <a:p>
            <a:pPr/>
            <a:r>
              <a:rPr sz="1600">
                <a:solidFill>
                  <a:srgbClr val="0E2A47"/>
                </a:solidFill>
              </a:rPr>
              <a:t>Freedom-to-operate opinion completed by Wilson Sonsini, no blocking claims identified</a:t>
            </a:r>
          </a:p>
          <a:p>
            <a:pPr/>
            <a:r>
              <a:rPr sz="1600">
                <a:solidFill>
                  <a:srgbClr val="0E2A47"/>
                </a:solidFill>
              </a:rPr>
              <a:t>Quality system: ISO 13485 certified; SOC 2 Type II; HIPAA BAA-ready</a:t>
            </a:r>
          </a:p>
          <a:p>
            <a:r>
              <a:rPr sz="1200" i="1">
                <a:solidFill>
                  <a:srgbClr val="555555"/>
                </a:solidFill>
              </a:rPr>
              <a:t>[Visual: Two-column layout. Left: regulatory milestone timeline with checkmarks/in-progress. Right: IP portfolio summary tile.]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800">
                <a:solidFill>
                  <a:srgbClr val="0E2A47"/>
                </a:solidFill>
              </a:rPr>
              <a:t>Slide 13 — Team</a:t>
            </a:r>
          </a:p>
        </p:txBody>
      </p:sp>
      <p:sp>
        <p:nvSpPr>
          <p:cNvPr id="3" name="Content Placeholder 2"/>
          <p:cNvSpPr>
            <a:spLocks noGrp="1"/>
          </p:cNvSpPr>
          <p:nvPr>
            <p:ph idx="1"/>
          </p:nvPr>
        </p:nvSpPr>
        <p:spPr/>
        <p:txBody>
          <a:bodyPr wrap="square"/>
          <a:lstStyle/>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800">
                <a:solidFill>
                  <a:srgbClr val="0E2A47"/>
                </a:solidFill>
              </a:rPr>
              <a:t>Operators who have built and scaled cardiology AI before</a:t>
            </a:r>
          </a:p>
        </p:txBody>
      </p:sp>
      <p:sp>
        <p:nvSpPr>
          <p:cNvPr id="3" name="Content Placeholder 2"/>
          <p:cNvSpPr>
            <a:spLocks noGrp="1"/>
          </p:cNvSpPr>
          <p:nvPr>
            <p:ph idx="1"/>
          </p:nvPr>
        </p:nvSpPr>
        <p:spPr/>
        <p:txBody>
          <a:bodyPr wrap="square"/>
          <a:lstStyle/>
          <a:p>
            <a:pPr/>
            <a:r>
              <a:rPr sz="1600">
                <a:solidFill>
                  <a:srgbClr val="0E2A47"/>
                </a:solidFill>
              </a:rPr>
              <a:t>Maya Chen, MD/PhD — CEO, co-founder. Cardiology fellowship MGH; PhD computational imaging MIT; 14 first-author papers in cardiac imaging AI; previously co-led the MGH amyloidosis screening initiative.</a:t>
            </a:r>
          </a:p>
          <a:p>
            <a:pPr/>
            <a:r>
              <a:rPr sz="1600">
                <a:solidFill>
                  <a:srgbClr val="0E2A47"/>
                </a:solidFill>
              </a:rPr>
              <a:t>Raj Iyer, PhD — CTO, co-founder. ML PhD MIT (CSAIL); previously Principal ML at Hinge Health; built and shipped two FDA-cleared imaging models prior.</a:t>
            </a:r>
          </a:p>
          <a:p>
            <a:pPr/>
            <a:r>
              <a:rPr sz="1600">
                <a:solidFill>
                  <a:srgbClr val="0E2A47"/>
                </a:solidFill>
              </a:rPr>
              <a:t>Sarah Whittaker — COO. Ex-VP Commercial at HeartFlow; led HeartFlow from $0 to $40M ARR and through CPT category I; ex-Medtronic CRDM.</a:t>
            </a:r>
          </a:p>
          <a:p>
            <a:pPr/>
            <a:r>
              <a:rPr sz="1600">
                <a:solidFill>
                  <a:srgbClr val="0E2A47"/>
                </a:solidFill>
              </a:rPr>
              <a:t>KOL advisors: Dr. [Name], Director MGH Amyloidosis Program · Dr. [Name], Cleveland Clinic Cardiac Imaging Section Head · Dr. [Name], Mayo Cardiology · Dr. [Name], Stanford Cardiology</a:t>
            </a:r>
          </a:p>
          <a:p>
            <a:pPr/>
            <a:r>
              <a:rPr sz="1600">
                <a:solidFill>
                  <a:srgbClr val="0E2A47"/>
                </a:solidFill>
              </a:rPr>
              <a:t>Team: 22 FTE today (12 engineering, 4 clinical, 4 commercial, 2 G&amp;A); near-term hires: VP Sales, Medical Director, Regulatory Lead</a:t>
            </a:r>
          </a:p>
          <a:p>
            <a:r>
              <a:rPr sz="1200" i="1">
                <a:solidFill>
                  <a:srgbClr val="555555"/>
                </a:solidFill>
              </a:rPr>
              <a:t>[Visual: Three founder headshots at top with one-line bios. KOL row below. Hiring plan as a small org chart.]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800">
                <a:solidFill>
                  <a:srgbClr val="0E2A47"/>
                </a:solidFill>
              </a:rPr>
              <a:t>Slide 14 — The Ask</a:t>
            </a:r>
          </a:p>
        </p:txBody>
      </p:sp>
      <p:sp>
        <p:nvSpPr>
          <p:cNvPr id="3" name="Content Placeholder 2"/>
          <p:cNvSpPr>
            <a:spLocks noGrp="1"/>
          </p:cNvSpPr>
          <p:nvPr>
            <p:ph idx="1"/>
          </p:nvPr>
        </p:nvSpPr>
        <p:spPr/>
        <p:txBody>
          <a:bodyPr wrap="square"/>
          <a:lstStyle/>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800">
                <a:solidFill>
                  <a:srgbClr val="0E2A47"/>
                </a:solidFill>
              </a:rPr>
              <a:t>$15M Series A at $50M pre-money — 30 months to category leadership</a:t>
            </a:r>
          </a:p>
        </p:txBody>
      </p:sp>
      <p:sp>
        <p:nvSpPr>
          <p:cNvPr id="3" name="Content Placeholder 2"/>
          <p:cNvSpPr>
            <a:spLocks noGrp="1"/>
          </p:cNvSpPr>
          <p:nvPr>
            <p:ph idx="1"/>
          </p:nvPr>
        </p:nvSpPr>
        <p:spPr/>
        <p:txBody>
          <a:bodyPr wrap="square"/>
          <a:lstStyle/>
          <a:p>
            <a:pPr/>
            <a:r>
              <a:rPr sz="1600">
                <a:solidFill>
                  <a:srgbClr val="0E2A47"/>
                </a:solidFill>
              </a:rPr>
              <a:t>Use of funds:</a:t>
            </a:r>
          </a:p>
          <a:p>
            <a:pPr/>
            <a:r>
              <a:rPr sz="1600">
                <a:solidFill>
                  <a:srgbClr val="0E2A47"/>
                </a:solidFill>
              </a:rPr>
              <a:t>$6M Sales &amp; Marketing — VP Sales, 8 enterprise AEs, 2 clinical specialists, demand-gen</a:t>
            </a:r>
          </a:p>
          <a:p>
            <a:pPr/>
            <a:r>
              <a:rPr sz="1600">
                <a:solidFill>
                  <a:srgbClr val="0E2A47"/>
                </a:solidFill>
              </a:rPr>
              <a:t>$4M R&amp;D — Strain De Novo to clearance; HCM and aortic stenosis adjacencies</a:t>
            </a:r>
          </a:p>
          <a:p>
            <a:pPr/>
            <a:r>
              <a:rPr sz="1600">
                <a:solidFill>
                  <a:srgbClr val="0E2A47"/>
                </a:solidFill>
              </a:rPr>
              <a:t>$2M Clinical — Prospective study completion; 2 additional publications; ACC/HFSA presence</a:t>
            </a:r>
          </a:p>
          <a:p>
            <a:pPr/>
            <a:r>
              <a:rPr sz="1600">
                <a:solidFill>
                  <a:srgbClr val="0E2A47"/>
                </a:solidFill>
              </a:rPr>
              <a:t>$2M G&amp;A — Quality, regulatory, finance scale</a:t>
            </a:r>
          </a:p>
          <a:p>
            <a:pPr/>
            <a:r>
              <a:rPr sz="1600">
                <a:solidFill>
                  <a:srgbClr val="0E2A47"/>
                </a:solidFill>
              </a:rPr>
              <a:t>$1M Working capital</a:t>
            </a:r>
          </a:p>
          <a:p>
            <a:pPr/>
            <a:r>
              <a:rPr sz="1600">
                <a:solidFill>
                  <a:srgbClr val="0E2A47"/>
                </a:solidFill>
              </a:rPr>
              <a:t>30-month runway to break-even-trajectory metrics: ~40 enterprise accounts, ~$30M ARR run rate, dedicated CPT submitted</a:t>
            </a:r>
          </a:p>
          <a:p>
            <a:pPr/>
            <a:r>
              <a:rPr sz="1600">
                <a:solidFill>
                  <a:srgbClr val="0E2A47"/>
                </a:solidFill>
              </a:rPr>
              <a:t>Lead profile: Cardiology / medical-imaging-AI portfolio fund; board seat; strategic introductions to Pfizer Cardiovascular, Edwards Lifesciences, Medtronic Structural Heart</a:t>
            </a:r>
          </a:p>
          <a:p>
            <a:pPr/>
            <a:r>
              <a:rPr sz="1600">
                <a:solidFill>
                  <a:srgbClr val="0E2A47"/>
                </a:solidFill>
              </a:rPr>
              <a:t>Milestones to Series B: Strain De Novo clearance · 25 enterprise accounts · CPT category I submitted · prospective Cleveland/Mayo readout</a:t>
            </a:r>
          </a:p>
          <a:p>
            <a:r>
              <a:rPr sz="1200" i="1">
                <a:solidFill>
                  <a:srgbClr val="555555"/>
                </a:solidFill>
              </a:rPr>
              <a:t>[Visual: Pie chart of use of funds on the left; 30-month milestone Gantt on the right with four named milestones.]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